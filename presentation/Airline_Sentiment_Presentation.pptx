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· LITET PROJEKT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Sentimentanalys av flygbolagstweets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DistilBERT kan hjälpa ett flygbolag att automatiskt upptäcka missnöjda kunder på sociala medier — innan problemet växer.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201168" cy="20116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Shape 4"/>
          <p:cNvSpPr/>
          <p:nvPr/>
        </p:nvSpPr>
        <p:spPr>
          <a:xfrm>
            <a:off x="10927080" y="685800"/>
            <a:ext cx="201168" cy="201168"/>
          </a:xfrm>
          <a:prstGeom prst="ellipse">
            <a:avLst/>
          </a:prstGeom>
          <a:solidFill>
            <a:srgbClr val="F0AD4E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502920"/>
            <a:ext cx="201168" cy="201168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Twitter US Airline Sentiment (Kaggle / Crowdflower)  ·  Modell: DistilBERT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Kunderna pratar — men ingen hinner lyssna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Flygbolag får tusentals kommentarer om sig på sociala medier varje dag — om förseningar, inställda flighter, bagage och service.</a:t>
            </a:r>
            <a:endParaRPr lang="en-US" sz="1600" dirty="0"/>
          </a:p>
          <a:p>
            <a:pPr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läsa och kategorisera allt manuellt är för långsamt för att upptäcka akuta problem i tid.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Mål: en modell som automatiskt klassar varje tweet som negativ, neutral eller positiv — så kundtjänst vet vad som behöver hanteras först.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78040" y="1828800"/>
            <a:ext cx="4480560" cy="3108960"/>
          </a:xfrm>
          <a:prstGeom prst="roundRect">
            <a:avLst>
              <a:gd name="adj" fmla="val 3529"/>
            </a:avLst>
          </a:prstGeom>
          <a:solidFill>
            <a:srgbClr val="0B3D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78040" y="22860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62,7%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alla tweets riktade till flygbolag är negativa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Endast 16% är positiva — resten är neutrala.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Twitter US Airline Sentiment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klassiskt, allmänt tillgängligt dataset från Kaggle (ursprungligen Crowdflower “Data for Everyone”) — 14 640 tweets om sex amerikanska flygbolag från februari 2015, redan manuellt taggade av annotatörer.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3796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" y="30632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14 640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90956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totalt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42716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42716" y="30632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flygbolag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1636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31636" y="30632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68796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sentimentklasser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20556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20556" y="30632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18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157716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 per tweet i snitt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Redan mänskligt taggad data = ett tillförlitligt facit att träna och utvärdera modellen mot.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DATABERÄTTELSE · DEL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Missnöjet dominerar samtalet</a:t>
            </a:r>
            <a:endParaRPr lang="en-US" sz="3200" dirty="0"/>
          </a:p>
        </p:txBody>
      </p:sp>
      <p:pic>
        <p:nvPicPr>
          <p:cNvPr id="4" name="Image 0" descr="/home/claude/charts/sentimen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201168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av tweetsen är negativa — flygbolag hör främst av sig när något gått fel.</a:t>
            </a:r>
            <a:endParaRPr lang="en-US" sz="1600" dirty="0"/>
          </a:p>
          <a:p>
            <a:pPr indent="0" marL="0">
              <a:lnSpc>
                <a:spcPts val="23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 16% är positiva — nöjda kunder tweetar helt enkelt mer sällan.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 ett flygbolag betyder det: sociala medier är i praktiken en gigantisk, ostrukturerad kundtjänstkö — dominerad av klagomål.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DATABERÄTTELSE · DEL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Vissa flygbolag har det mycket värre</a:t>
            </a:r>
            <a:endParaRPr lang="en-US" sz="3200" dirty="0"/>
          </a:p>
        </p:txBody>
      </p:sp>
      <p:pic>
        <p:nvPicPr>
          <p:cNvPr id="4" name="Image 0" descr="/home/claude/charts/sentiment_by_air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91640"/>
            <a:ext cx="576072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Airways: 78% negativa tweets.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 America: bara 36% negativa — mer än dubbelt så bra.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Skillnaden visar att sentiment inte bara handlar om flygbranschen i stort — det går att påverka genom hur ett enskilt bolag hanterar sina kunder.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DATABERÄTTELSE · DEL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 klagar folk på, egentligen?</a:t>
            </a:r>
            <a:endParaRPr lang="en-US" sz="3200" dirty="0"/>
          </a:p>
        </p:txBody>
      </p:sp>
      <p:pic>
        <p:nvPicPr>
          <p:cNvPr id="4" name="Image 0" descr="/home/claude/charts/top_negative_reas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201168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Kundservice, förseningar och inställda flighter är de tre största orsakerna till klagomål.</a:t>
            </a:r>
            <a:endParaRPr lang="en-US" sz="1600" dirty="0"/>
          </a:p>
          <a:p>
            <a:pPr indent="0" marL="0">
              <a:lnSpc>
                <a:spcPts val="23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är tre konkreta, åtgärdbara kategorier — inte diffus irritation.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modell som flaggar dessa i realtid låter flygbolaget agera på rätt problem, inte bara på volym.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 · STEG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Vår metod: Transfer Learning med DistilBERT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Istället för att träna en språkmodell från noll återanvänder vi en modell som redan lärt sig grammatik, sammanhang och betydelse från enorma mängder text — och lär den bara vårt specifika problem: flygbolagssentiment.</a:t>
            </a:r>
            <a:endParaRPr lang="en-US" sz="15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2788920"/>
          <a:ext cx="8686800" cy="2377440"/>
        </p:xfrm>
        <a:graphic>
          <a:graphicData uri="http://schemas.openxmlformats.org/drawingml/2006/table">
            <a:tbl>
              <a:tblPr/>
              <a:tblGrid>
                <a:gridCol w="2895600"/>
                <a:gridCol w="2895600"/>
                <a:gridCol w="2895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BERT-base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 (vårt val)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Transformerlager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 miljoner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~66 miljoner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Tränings-/inferenshastighet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Baslinje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60% snabbare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Språkförståelse behållen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Särskilt vettigt när målet är ett kort &amp; snabbt projekt — utan att offra mycket precision.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 · STEG 3–4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Modellarkitektur: frysta lager + egna lager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68196" y="158191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— 6 transformerblock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68196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B9C4C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68196" y="21305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 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68196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95244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B9C4C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95244" y="21305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 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095244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22292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B9C4C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2292" y="21305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 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22292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9340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B9C4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49340" y="21305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 4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49340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76388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4A90A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76388" y="21305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 5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76388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03436" y="19659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4A90A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03436" y="21305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 6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203436" y="2468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66460" y="2926080"/>
            <a:ext cx="256032" cy="320040"/>
          </a:xfrm>
          <a:prstGeom prst="downArrow">
            <a:avLst/>
          </a:prstGeom>
          <a:solidFill>
            <a:srgbClr val="9AA7B2"/>
          </a:solidFill>
          <a:ln/>
        </p:spPr>
      </p:sp>
      <p:sp>
        <p:nvSpPr>
          <p:cNvPr id="24" name="Shape 22"/>
          <p:cNvSpPr/>
          <p:nvPr/>
        </p:nvSpPr>
        <p:spPr>
          <a:xfrm>
            <a:off x="3122676" y="37490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B3D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122676" y="3858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122676" y="4169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60036" y="3913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362956" y="37490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B3D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362956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362956" y="4169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25996" y="3913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328916" y="37490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B3D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28916" y="3858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Dense(3)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328916" y="4169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351276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Egna lager — tränas från grunden för vår specifika uppgift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66460" y="4572000"/>
            <a:ext cx="256032" cy="320040"/>
          </a:xfrm>
          <a:prstGeom prst="downArrow">
            <a:avLst/>
          </a:prstGeom>
          <a:solidFill>
            <a:srgbClr val="9AA7B2"/>
          </a:solidFill>
          <a:ln/>
        </p:spPr>
      </p:sp>
      <p:sp>
        <p:nvSpPr>
          <p:cNvPr id="37" name="Shape 35"/>
          <p:cNvSpPr/>
          <p:nvPr/>
        </p:nvSpPr>
        <p:spPr>
          <a:xfrm>
            <a:off x="4174236" y="5029200"/>
            <a:ext cx="731520" cy="7315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808476" y="5806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728716" y="5029200"/>
            <a:ext cx="731520" cy="731520"/>
          </a:xfrm>
          <a:prstGeom prst="ellipse">
            <a:avLst/>
          </a:prstGeom>
          <a:solidFill>
            <a:srgbClr val="F0AD4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362956" y="5806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83196" y="5029200"/>
            <a:ext cx="731520" cy="731520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17436" y="5806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92640" y="713232"/>
            <a:ext cx="256032" cy="201168"/>
          </a:xfrm>
          <a:prstGeom prst="rect">
            <a:avLst/>
          </a:prstGeom>
          <a:solidFill>
            <a:srgbClr val="B9C4C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994392" y="658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Frusen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744200" y="713232"/>
            <a:ext cx="256032" cy="201168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1045952" y="658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Tränbar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 · STEG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Träning i två faser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45236" y="182880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5276" y="2148840"/>
            <a:ext cx="502920" cy="502920"/>
          </a:xfrm>
          <a:prstGeom prst="ellipse">
            <a:avLst/>
          </a:prstGeom>
          <a:solidFill>
            <a:srgbClr val="B9C4C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527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51076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 1 — Träna klassificeringshuvudet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65276" y="29718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 DistilBERT-basen fryst (trainable = False)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epoker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2×10⁻⁴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Endast våra egna lager (Dense 128 → Dropout → Dense 3) uppdateras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3076" y="182880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3116" y="2148840"/>
            <a:ext cx="502920" cy="502920"/>
          </a:xfrm>
          <a:prstGeom prst="ellipse">
            <a:avLst/>
          </a:prstGeom>
          <a:solidFill>
            <a:srgbClr val="4A90A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4311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28916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 2 — Fine-tuning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43116" y="29718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 sista transformerblocken låses upp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epoker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Lägre learning rate: 2×10⁻⁵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 finjusterar språkförståelsen mot flygbolags-/kundtjänstspråk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2 521 träning · 539 validering · 540 test — ett stratifierat urval för snabb, körbar träning.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 · STEG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Resultat på testdata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6676" y="178308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8A97A2"/>
            </a:solidFill>
            <a:prstDash val="dash"/>
          </a:ln>
          <a:effectLst>
            <a:outerShdw sx="100000" sy="100000" kx="0" ky="0" algn="bl" rotWithShape="0" blurRad="101600" dist="38100" dir="5400000">
              <a:srgbClr val="1A2733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36676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AA7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 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73836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8556" y="178308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8A97A2"/>
            </a:solidFill>
            <a:prstDash val="dash"/>
          </a:ln>
          <a:effectLst>
            <a:outerShdw sx="100000" sy="100000" kx="0" ky="0" algn="bl" rotWithShape="0" blurRad="101600" dist="38100" dir="5400000">
              <a:srgbClr val="1A2733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48556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AA7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 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85716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0436" y="178308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8A97A2"/>
            </a:solidFill>
            <a:prstDash val="dash"/>
          </a:ln>
          <a:effectLst>
            <a:outerShdw sx="100000" sy="100000" kx="0" ky="0" algn="bl" rotWithShape="0" blurRad="101600" dist="38100" dir="5400000">
              <a:srgbClr val="1A2733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60436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AA7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 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97596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negative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 i siffrorna här efter att notebooken körts i Google Colab (≈ 5–10 minuter).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17036" y="429768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A97A2"/>
            </a:solidFill>
            <a:prstDash val="dash"/>
          </a:ln>
          <a:effectLst>
            <a:outerShdw sx="100000" sy="100000" kx="0" ky="0" algn="bl" rotWithShape="0" blurRad="101600" dist="38100" dir="5400000">
              <a:srgbClr val="1A2733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717036" y="42976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Klistra in confusion matrix från notebooken här 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AFFÄRSVÄRDE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Varför är detta värdefullt för bolaget?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" y="1828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3836" y="210312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13916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Snabbare respons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19556" y="2606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Upptäck missnöjda kunder inom sekunder istället för timmar — innan ett litet problem hinner växa.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828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1676" y="2103120"/>
            <a:ext cx="457200" cy="457200"/>
          </a:xfrm>
          <a:prstGeom prst="ellipse">
            <a:avLst/>
          </a:prstGeom>
          <a:solidFill>
            <a:srgbClr val="F0AD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91756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Rätt prioritering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97396" y="2606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Kundtjänst kan fokusera på riktiga problem (förseningar, inställda flighter) istället för att läsa allt manuellt.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9516" y="39776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73836" y="4251960"/>
            <a:ext cx="457200" cy="457200"/>
          </a:xfrm>
          <a:prstGeom prst="ellipse">
            <a:avLst/>
          </a:prstGeom>
          <a:solidFill>
            <a:srgbClr val="4A90A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13916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Skydda varumärket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" y="4754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Fånga upp klagomål som riskerar att sprida sig, innan de blir en storm i sociala medier.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7356" y="39776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1676" y="4251960"/>
            <a:ext cx="457200" cy="457200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91756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Skalbart &amp; billigt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97396" y="4754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är ≈60% snabbare än BERT i drift — går att köra på miljontals inlägg utan stora serverkostnader.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Sentimentanalys av flygbolagstweets — Transfer Learning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SAMMANFATTNING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Från rå text till affärsbeslut på sekunder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5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följde hela transfer learning-flödet: valde DistilBERT som basmodell, förberedde data, frös de tidiga lagren, la till egna klassificeringslager, finjusterade de sista transformerblocken och utvärderade resultatet.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Nästa steg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Träna om på hela datasetet (14 640 tweets) för ännu högre noggrannhet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Koppla modellen till en livepipeline (t.ex. ett Streamlit-dashboard för kundtjänst)</a:t>
            </a:r>
            <a:endParaRPr lang="en-US" sz="15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5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Utveckla vidare med fler språk och fler flygbolag / marknader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0" y="6035040"/>
            <a:ext cx="164592" cy="164592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8" name="Shape 6"/>
          <p:cNvSpPr/>
          <p:nvPr/>
        </p:nvSpPr>
        <p:spPr>
          <a:xfrm>
            <a:off x="11247120" y="6035040"/>
            <a:ext cx="164592" cy="164592"/>
          </a:xfrm>
          <a:prstGeom prst="ellipse">
            <a:avLst/>
          </a:prstGeom>
          <a:solidFill>
            <a:srgbClr val="F0AD4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6035040"/>
            <a:ext cx="164592" cy="164592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943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2026-09-02T16:16:16Z</dcterms:created>
  <dcterms:modified xsi:type="dcterms:W3CDTF">2026-09-02T16:16:16Z</dcterms:modified>
</cp:coreProperties>
</file>